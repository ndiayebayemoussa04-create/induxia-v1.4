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Sans intervention (100% vitesse)</c:v>
                </c:pt>
              </c:strCache>
            </c:strRef>
          </c:tx>
          <c:spPr>
            <a:solidFill>
              <a:srgbClr val="E11D48"/>
            </a:solidFill>
            <a:ln w="38100" cap="flat">
              <a:solidFill>
                <a:srgbClr val="E11D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11D48"/>
              </a:solidFill>
              <a:ln w="9525" cap="flat">
                <a:solidFill>
                  <a:srgbClr val="E11D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H0</c:v>
                  </c:pt>
                  <c:pt idx="1">
                    <c:v>H4</c:v>
                  </c:pt>
                  <c:pt idx="2">
                    <c:v>H8</c:v>
                  </c:pt>
                  <c:pt idx="3">
                    <c:v>H12</c:v>
                  </c:pt>
                  <c:pt idx="4">
                    <c:v>H16</c:v>
                  </c:pt>
                  <c:pt idx="5">
                    <c:v>H18.5</c:v>
                  </c:pt>
                  <c:pt idx="6">
                    <c:v>H24</c:v>
                  </c:pt>
                  <c:pt idx="7">
                    <c:v>H48</c:v>
                  </c:pt>
                  <c:pt idx="8">
                    <c:v>H72</c:v>
                  </c:pt>
                  <c:pt idx="9">
                    <c:v>H96</c:v>
                  </c:pt>
                  <c:pt idx="10">
                    <c:v>H112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88</c:v>
                </c:pt>
                <c:pt idx="2">
                  <c:v>72</c:v>
                </c:pt>
                <c:pt idx="3">
                  <c:v>54</c:v>
                </c:pt>
                <c:pt idx="4">
                  <c:v>30</c:v>
                </c:pt>
                <c:pt idx="5">
                  <c:v>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Scénario INDUXIA (-25% vitesse + Graisse SKF)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H0</c:v>
                  </c:pt>
                  <c:pt idx="1">
                    <c:v>H4</c:v>
                  </c:pt>
                  <c:pt idx="2">
                    <c:v>H8</c:v>
                  </c:pt>
                  <c:pt idx="3">
                    <c:v>H12</c:v>
                  </c:pt>
                  <c:pt idx="4">
                    <c:v>H16</c:v>
                  </c:pt>
                  <c:pt idx="5">
                    <c:v>H18.5</c:v>
                  </c:pt>
                  <c:pt idx="6">
                    <c:v>H24</c:v>
                  </c:pt>
                  <c:pt idx="7">
                    <c:v>H48</c:v>
                  </c:pt>
                  <c:pt idx="8">
                    <c:v>H72</c:v>
                  </c:pt>
                  <c:pt idx="9">
                    <c:v>H96</c:v>
                  </c:pt>
                  <c:pt idx="10">
                    <c:v>H112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</c:v>
                </c:pt>
                <c:pt idx="1">
                  <c:v>96</c:v>
                </c:pt>
                <c:pt idx="2">
                  <c:v>92</c:v>
                </c:pt>
                <c:pt idx="3">
                  <c:v>88</c:v>
                </c:pt>
                <c:pt idx="4">
                  <c:v>84</c:v>
                </c:pt>
                <c:pt idx="5">
                  <c:v>82</c:v>
                </c:pt>
                <c:pt idx="6">
                  <c:v>78</c:v>
                </c:pt>
                <c:pt idx="7">
                  <c:v>64</c:v>
                </c:pt>
                <c:pt idx="8">
                  <c:v>50</c:v>
                </c:pt>
                <c:pt idx="9">
                  <c:v>36</c:v>
                </c:pt>
                <c:pt idx="10">
                  <c:v>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8FAF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Puissance Nominale Utile (kW)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Broche CNC-04</c:v>
                  </c:pt>
                  <c:pt idx="1">
                    <c:v>Presse HP-12</c:v>
                  </c:pt>
                  <c:pt idx="2">
                    <c:v>Turbine TG-02</c:v>
                  </c:pt>
                  <c:pt idx="3">
                    <c:v>Robot KUKA-R7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14.2</c:v>
                </c:pt>
                <c:pt idx="1">
                  <c:v>110.5</c:v>
                </c:pt>
                <c:pt idx="2">
                  <c:v>182</c:v>
                </c:pt>
                <c:pt idx="3">
                  <c:v>11.8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Surconsommation Frottement (kW)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Broche CNC-04</c:v>
                  </c:pt>
                  <c:pt idx="1">
                    <c:v>Presse HP-12</c:v>
                  </c:pt>
                  <c:pt idx="2">
                    <c:v>Turbine TG-02</c:v>
                  </c:pt>
                  <c:pt idx="3">
                    <c:v>Robot KUKA-R7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4.2</c:v>
                </c:pt>
                <c:pt idx="1">
                  <c:v>1.5</c:v>
                </c:pt>
                <c:pt idx="2">
                  <c:v>3</c:v>
                </c:pt>
                <c:pt idx="3">
                  <c:v>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8FAF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(Revenu Récurrent Annuel en M€)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2026 (Pilotes)</c:v>
                  </c:pt>
                  <c:pt idx="1">
                    <c:v>2027 (Déploiement)</c:v>
                  </c:pt>
                  <c:pt idx="2">
                    <c:v>2028 (Scale Europe)</c:v>
                  </c:pt>
                  <c:pt idx="3">
                    <c:v>2029 (Global)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2.6</c:v>
                </c:pt>
                <c:pt idx="2">
                  <c:v>6.8</c:v>
                </c:pt>
                <c:pt idx="3">
                  <c:v>15.2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8FAF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INDUXIA V1.4 — INDUSTRIAL AI &amp; RESILIENCE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Première Plateforme d'IA Locale Souveraine pour l'Industrie Manufacturière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749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Élimination des arrêts non planifiés · Éco-efficience énergétique ISO 50001 · Accélération AMD ROCm sur site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solidFill>
            <a:srgbClr val="182234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512064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A4AF"/>
                </a:solidFill>
              </a:rPr>
              <a:t>DOSSIER STRATÉGIQUE RÉSERVÉ AUX DIRIGEANTS &amp; INVESTISSEURS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Levée de Fonds Série A : 2,5 M€ | Déploiement Usines 2026-2028 | Confidentialité Stricte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</a:rPr>
              <a:t>01. LE DÉFI INDUSTRIEL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Les Arrêts Non Planifiés : Hémorragie Financière des Usines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329184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2860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1D48"/>
                </a:solidFill>
              </a:rPr>
              <a:t>40 h/an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3108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Arrêts critiques non planifiés par usine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3749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Coût horaire moyen : 15 000 € à 50 000 €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2011680"/>
            <a:ext cx="329184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2860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1D48"/>
                </a:solidFill>
              </a:rPr>
              <a:t>750 k€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754880" y="3108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Perte annuelle moyenne par site de production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3749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Rebuts matières, pénalités et heures supplémentaires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29184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2860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1D48"/>
                </a:solidFill>
              </a:rPr>
              <a:t>8% à 12%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321040" y="3108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Gaspillage d’énergie électrique non détecté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3749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Surconsommation frictionnelle des roulements dégradés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Source : Études VDMA, Deloitte Smart Factory &amp; benchmarks réels de maintenance usine 2025/2026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</a:rPr>
              <a:t>02. LA SOLUTION INDUXIA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L’Intelligence Artificielle Souveraine au Cœur de l’Atelier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1033272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1. IA Locale AMD ROCm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3317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Inférence locale déconnectée sur stations d’atelier. Zéro dépendance au cloud, zéro fuite de données de fabrication.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1033272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337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2. RAG Industriel Certifié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3703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Raisonnement ancré sur les normes (ISO 10816, ISO 13374) et les manuels constructeurs OEM. Zéro hallucination.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572000"/>
            <a:ext cx="1033272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709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3. Human-in-the-Loop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5074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Contrat strict OBSERVE + PROPOSE. Aucune commande d’arrêt ou de modification de consigne sans validation superviseur.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</a:rPr>
              <a:t>03. PRONOSTIC TECHNIQUE AVANCÉ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Calcul de RUL (Remaining Useful Life) &amp; Simulateur « What-If »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914400" y="1828800"/>
          <a:ext cx="6583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828800"/>
            <a:ext cx="347472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Impact Décisionnel Chef d’Atelier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0" y="256032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</a:rPr>
              <a:t>• Baseline Sans Action 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Rupture brutale à H18.5 en plein quart de nuit. Arrêt usine non programmé.
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• Recommandation INDUXIA 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Réduction de 25% de l’avance et regraissage sous pression SKF LGHP 2.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• Résultat Obtenu 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La machine tient jusqu’à 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112 heures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(arrêt programmé de samedi matin atteint avec 50 pièces/h produites).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</a:rPr>
              <a:t>04. PERFORMANCE ÉNERGÉTIQUE (ISO 50001 &amp; CSRD)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Détection des Pertes Électriques Induites par les Frottements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914400" y="1828800"/>
          <a:ext cx="6583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828800"/>
            <a:ext cx="347472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Gains Énergétiques Usine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0" y="256032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</a:rPr>
              <a:t>+29,6% de Surcoût Électrique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Mesuré sur la broche CNC-04 dégradée (5.82 mm/s RMS).
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87,50 € / Jour Gaspillés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Sur une seule machine non optimisée.
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11,2 kg CO₂ / Heure Évitables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Reporting instantané pour la directive européenne CSRD et audit ISO 50001.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</a:rPr>
              <a:t>05. POSITIONNEMENT CONCURRENTIEL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Pourquoi INDUXIA Surpasse les Offres Existant sur le Marché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28800"/>
          <a:ext cx="10332720" cy="4114800"/>
        </p:xfrm>
        <a:graphic>
          <a:graphicData uri="http://schemas.openxmlformats.org/drawingml/2006/table">
            <a:tbl>
              <a:tblPr/>
              <a:tblGrid>
                <a:gridCol w="2583180"/>
                <a:gridCol w="2583180"/>
                <a:gridCol w="2583180"/>
                <a:gridCol w="258318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Critère Industriel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INDUXIA V1.4-V2.0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Solutions Cloud (AWS/Azure)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GMAO Traditionnelles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Souveraineté des données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100% Locale / Déconnectée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11D48"/>
                          </a:solidFill>
                        </a:rPr>
                        <a:t>Fuite cloud / Dépendant Web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Locale sans IA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Accélération matérielle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AMD ROCm optimisé Edge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GPU Datacenter coûteux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Aucune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Garantie Zéro Hallucination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Strict RAG ISO / SOP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11D48"/>
                          </a:solidFill>
                        </a:rPr>
                        <a:t>Risque d’hallucination générique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Pas de LLM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Human-in-the-Loop strict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Validation obligatoire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Boîte noire opaque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Manuel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Corrélation ISO 50001 / kWh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Temps réel automatique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Modules tiers complexes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Inexistante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</a:rPr>
              <a:t>06. RENTABILITÉ &amp; BUSINESS CASE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Un Retour sur Investissement Inférieur à 4 Mois pour l’Usine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28800"/>
          <a:ext cx="10332720" cy="3840480"/>
        </p:xfrm>
        <a:graphic>
          <a:graphicData uri="http://schemas.openxmlformats.org/drawingml/2006/table">
            <a:tbl>
              <a:tblPr/>
              <a:tblGrid>
                <a:gridCol w="2583180"/>
                <a:gridCol w="2583180"/>
                <a:gridCol w="2583180"/>
                <a:gridCol w="258318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Poste de Valeur Économique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Avant INDUXIA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Avec INDUXIA V1.4+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Gain Net Annuel (€)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Évitement arrêts non planifiés (40h/an)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600 000 € de pertes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&lt; 4h/an (-90% d’arrêts)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+540 000 €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Économie d’énergie frottements (kWh)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Surconsommation 8%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Détection en &lt; 4 heures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+45 000 €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Allongement durée de vie broches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Casse prématurée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+25% de durée utile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+65 000 €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Productivité techniciens (GMAO auto)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1.5h de saisie/jour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ODT pré-remplis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+40 000 €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TOTAL DES GAINS PAR USINE (25 MACHINES)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</a:rPr>
                        <a:t>+690 000 € / 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Coût de souscription annuel moyen : 60 000 € par usine  ➔  Multiplicateur de valeur x11,5 pour le client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</a:rPr>
              <a:t>07. MODÈLE ÉCONOMIQUE &amp; TRAJECTOIRE ARR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Une Croissance Prévisible Portée par le Modèle SaaS B2B Industriel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914400" y="1828800"/>
          <a:ext cx="6583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828800"/>
            <a:ext cx="347472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Métriques Clés &amp; Unit Economics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0" y="256032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• ACV Moyen : 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60 000 € / an par usine.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• Marge Brute Logiciel : 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&gt; 82% (Grâce au calcul Edge local sans coût d’inférence API cloud).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• Net Revenue Retention : 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&gt; 125% (Extension naturelle d’une ligne pilote à l’ensemble du parc).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• Objectif 2029 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190 usines équipées en Europe et Amérique du Nord.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</a:rPr>
              <a:t>08. OPPORTUNITÉ D’INVESTISSEMENT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Levée de Fonds Série A : 2,5 Millions d’Euros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659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</a:rPr>
              <a:t>40%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1965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Déploiement Commercial &amp; Sales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228600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Recrutement de 6 ingénieurs d’affaires industriels pour accélérer en France, Allemagne et Benelux.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2880360"/>
            <a:ext cx="103327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0175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</a:rPr>
              <a:t>35%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0" y="3017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R&amp;D Moteur ROCm &amp; Vision V2.0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333756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Finalisation des connecteurs temps réel OPC-UA et intégration des modèles de vision thermique FLIR.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3931920"/>
            <a:ext cx="103327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069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</a:rPr>
              <a:t>15%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286000" y="4069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Partenariats Hardware OEM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43891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Validation conjointe et certification avec constructeurs de machines et intégrateurs AMD.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4983480"/>
            <a:ext cx="103327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120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</a:rPr>
              <a:t>10%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286000" y="5120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Conformité &amp; Sécurité NIS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54406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Certification IEC 62443 SL-3 pour sécuriser les marchés critiques (Défense, Nucléaire).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Contact Dirigeant : contact@induxia-industry.com | Démonstration interactive disponible sur http://localhost:3000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9</Slides>
	<Notes>9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9</vt:i4></vt:variant>
		</vt:vector>
	</HeadingPairs>
	<TitlesOfParts>
		<vt:vector size="12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
		</vt:vector>
	</TitlesOfParts>
	<Company>INDUXIA - Industrial AI & Resilience Platform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INDUXIA - Dossier Exécutif Investisseurs &amp; Dirigeants</dc:title>
  <dc:subject>PptxGenJS Presentation</dc:subject>
  <dc:creator>INDUXIA Corp.</dc:creator>
  <cp:lastModifiedBy>INDUXIA Corp.</cp:lastModifiedBy>
  <cp:revision>1</cp:revision>
  <dcterms:created xsi:type="dcterms:W3CDTF">2026-10-07T13:21:40Z</dcterms:created>
  <dcterms:modified xsi:type="dcterms:W3CDTF">2026-10-07T13:21:40Z</dcterms:modified>
</cp:coreProperties>
</file>